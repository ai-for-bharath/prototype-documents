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05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0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579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04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07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10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03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56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633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77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66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BBA9A-9323-4435-B985-3A937C582D09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F0B9C-E8AB-43AF-9C25-B28765838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24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2707" y="645193"/>
            <a:ext cx="10004276" cy="5456504"/>
          </a:xfrm>
        </p:spPr>
        <p:txBody>
          <a:bodyPr>
            <a:normAutofit fontScale="92500" lnSpcReduction="20000"/>
          </a:bodyPr>
          <a:lstStyle/>
          <a:p>
            <a:r>
              <a:rPr lang="en-IN" sz="6500" dirty="0" smtClean="0">
                <a:latin typeface="Arial" panose="020B0604020202020204" pitchFamily="34" charset="0"/>
                <a:cs typeface="Arial" panose="020B0604020202020204" pitchFamily="34" charset="0"/>
              </a:rPr>
              <a:t>Theerpu Intelligence System (TIS)</a:t>
            </a:r>
          </a:p>
          <a:p>
            <a:endParaRPr lang="en-IN" sz="6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Judgment Lifecycle &amp; Decision Intelligence for Government</a:t>
            </a:r>
          </a:p>
          <a:p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For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Bharath Hackathon 2026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latin typeface="Arial" panose="020B0604020202020204" pitchFamily="34" charset="0"/>
              </a:rPr>
              <a:t>Team Name : ElvaTech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Members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Arun P N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>
                <a:latin typeface="Arial" panose="020B0604020202020204" pitchFamily="34" charset="0"/>
              </a:rPr>
              <a:t>Prabhu T P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>
                <a:latin typeface="Arial" panose="020B0604020202020204" pitchFamily="34" charset="0"/>
              </a:rPr>
              <a:t>Sai Krishna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smtClean="0">
                <a:latin typeface="Arial" panose="020B0604020202020204" pitchFamily="34" charset="0"/>
              </a:rPr>
              <a:t>Rohit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“Accelerating Government Decision Intelligence through Explainable AI.”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57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090" y="287380"/>
            <a:ext cx="10843901" cy="614760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Government departments and judicial stakeholders face major operational challenges while handling evolving legal instructions and court-driven governance workflows.</a:t>
            </a:r>
          </a:p>
          <a:p>
            <a:pPr marL="0" indent="0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Current Challenges</a:t>
            </a:r>
          </a:p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Contradictory departmental directions </a:t>
            </a:r>
          </a:p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Delayed operational responses </a:t>
            </a:r>
          </a:p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Manual legal tracking </a:t>
            </a:r>
          </a:p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Poor visibility into evolving judicial instructions </a:t>
            </a:r>
          </a:p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No intelligent prioritization system </a:t>
            </a:r>
          </a:p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Lack of explainable escalation reasoning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</a:p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Critical government actions are delayed, increasing legal and operational risk.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7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462" y="304473"/>
            <a:ext cx="10621711" cy="5891227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3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 marL="0" indent="0">
              <a:buNone/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Theerpu Intelligence System (TIS)</a:t>
            </a:r>
          </a:p>
          <a:p>
            <a:pPr marL="0" indent="0">
              <a:buNone/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An AI-powered operational intelligence platform designed for:</a:t>
            </a:r>
          </a:p>
          <a:p>
            <a:pPr marL="0" indent="0">
              <a:buNone/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Core Capabilities</a:t>
            </a: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Judgment lifecycle tracking</a:t>
            </a: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Conflict escalation monitoring</a:t>
            </a: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Government action prioritization</a:t>
            </a: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Explainable decision intelligence</a:t>
            </a: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Operational risk scoring</a:t>
            </a: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Intelligent recommendation workflows</a:t>
            </a: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Key Innovation</a:t>
            </a:r>
          </a:p>
          <a:p>
            <a:pPr marL="0" indent="0">
              <a:buNone/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“Action-First Decision Intelligence for Government Operations.”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82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378" y="188007"/>
            <a:ext cx="11331723" cy="638370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Architecture Pipeline</a:t>
            </a:r>
          </a:p>
          <a:p>
            <a:pPr marL="0" indent="0">
              <a:buNone/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Government Cases &amp; Orders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Backend Intelligence Layer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Lifecycle Tracking Engine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Conflict Detection Engine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Risk Scoring System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Decision Prioritization Engine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0" indent="0" algn="ctr">
              <a:buNone/>
            </a:pPr>
            <a:r>
              <a:rPr lang="en-IN" sz="3800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Operational Dashboard</a:t>
            </a:r>
          </a:p>
          <a:p>
            <a:pPr marL="0" indent="0">
              <a:buNone/>
            </a:pP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4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</a:p>
          <a:p>
            <a:pPr marL="0" indent="0">
              <a:buNone/>
            </a:pPr>
            <a:r>
              <a:rPr lang="en-IN" sz="4200" dirty="0" smtClean="0">
                <a:latin typeface="Arial" panose="020B0604020202020204" pitchFamily="34" charset="0"/>
                <a:cs typeface="Arial" panose="020B0604020202020204" pitchFamily="34" charset="0"/>
              </a:rPr>
              <a:t>React + </a:t>
            </a:r>
            <a:r>
              <a:rPr lang="en-IN" sz="4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Vite</a:t>
            </a:r>
            <a:endParaRPr lang="en-IN" sz="4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4200" dirty="0" smtClean="0">
                <a:latin typeface="Arial" panose="020B0604020202020204" pitchFamily="34" charset="0"/>
                <a:cs typeface="Arial" panose="020B0604020202020204" pitchFamily="34" charset="0"/>
              </a:rPr>
              <a:t>Express Backend</a:t>
            </a:r>
          </a:p>
          <a:p>
            <a:pPr marL="0" indent="0">
              <a:buNone/>
            </a:pPr>
            <a:r>
              <a:rPr lang="en-IN" sz="4200" dirty="0" smtClean="0">
                <a:latin typeface="Arial" panose="020B0604020202020204" pitchFamily="34" charset="0"/>
                <a:cs typeface="Arial" panose="020B0604020202020204" pitchFamily="34" charset="0"/>
              </a:rPr>
              <a:t>JSON Lifecycle Records</a:t>
            </a:r>
          </a:p>
          <a:p>
            <a:pPr marL="0" indent="0">
              <a:buNone/>
            </a:pPr>
            <a:r>
              <a:rPr lang="en-IN" sz="4200" dirty="0" smtClean="0">
                <a:latin typeface="Arial" panose="020B0604020202020204" pitchFamily="34" charset="0"/>
                <a:cs typeface="Arial" panose="020B0604020202020204" pitchFamily="34" charset="0"/>
              </a:rPr>
              <a:t>Custom CSS Dashboard</a:t>
            </a:r>
          </a:p>
          <a:p>
            <a:pPr marL="0" indent="0">
              <a:buNone/>
            </a:pPr>
            <a:r>
              <a:rPr lang="en-IN" sz="4200" dirty="0" smtClean="0">
                <a:latin typeface="Arial" panose="020B0604020202020204" pitchFamily="34" charset="0"/>
                <a:cs typeface="Arial" panose="020B0604020202020204" pitchFamily="34" charset="0"/>
              </a:rPr>
              <a:t>Deterministic Simulation Engine</a:t>
            </a:r>
            <a:endParaRPr lang="en-IN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36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642" y="270289"/>
            <a:ext cx="11544657" cy="6497979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</a:p>
          <a:p>
            <a:pPr marL="0" indent="0" algn="ctr">
              <a:buNone/>
            </a:pPr>
            <a:endParaRPr lang="en-US" sz="4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1 — Case Monitoring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Tracks judicial instructions and operational directives.</a:t>
            </a:r>
          </a:p>
          <a:p>
            <a:pPr marL="0" indent="0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2 — Lifecycle Intelligence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Monitors how instructions evolve over time.</a:t>
            </a:r>
          </a:p>
          <a:p>
            <a:pPr marL="0" indent="0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3 — Conflict Detection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Identifies contradictory government directions.</a:t>
            </a:r>
          </a:p>
          <a:p>
            <a:pPr marL="0" indent="0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4 — Risk Scoring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Calculates urgency and legal exposure.</a:t>
            </a:r>
          </a:p>
          <a:p>
            <a:pPr marL="0" indent="0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5 — Decision Prioritization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Classifies actions into: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Act Now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Review Soon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Stable </a:t>
            </a:r>
          </a:p>
          <a:p>
            <a:pPr marL="0" indent="0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Step 6 — Explainability Layer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Displays WHY a case was escalated.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169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007" y="102551"/>
            <a:ext cx="11844472" cy="6691356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Major System Modules</a:t>
            </a:r>
          </a:p>
          <a:p>
            <a:pPr marL="0" indent="0" algn="ctr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Dashboard Command Center</a:t>
            </a:r>
          </a:p>
          <a:p>
            <a:pPr marL="0" indent="0">
              <a:buNone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Operational intelligence overview</a:t>
            </a:r>
          </a:p>
          <a:p>
            <a:pPr marL="0" indent="0">
              <a:buNone/>
            </a:pPr>
            <a:endParaRPr lang="en-US" sz="2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Cases Investigation Workspace</a:t>
            </a:r>
          </a:p>
          <a:p>
            <a:pPr marL="0" indent="0">
              <a:buNone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Case lifecycle tracking and analysis</a:t>
            </a:r>
          </a:p>
          <a:p>
            <a:pPr marL="0" indent="0">
              <a:buNone/>
            </a:pPr>
            <a:endParaRPr lang="en-US" sz="2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Decisions Action Center</a:t>
            </a:r>
          </a:p>
          <a:p>
            <a:pPr marL="0" indent="0">
              <a:buNone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Action prioritization system</a:t>
            </a:r>
          </a:p>
          <a:p>
            <a:pPr marL="0" indent="0">
              <a:buNone/>
            </a:pPr>
            <a:endParaRPr lang="en-US" sz="2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Conflict Monitoring Engine</a:t>
            </a:r>
          </a:p>
          <a:p>
            <a:pPr marL="0" indent="0">
              <a:buNone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Contradiction detection and escalation</a:t>
            </a:r>
          </a:p>
          <a:p>
            <a:pPr marL="0" indent="0">
              <a:buNone/>
            </a:pPr>
            <a:endParaRPr lang="en-US" sz="2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Explainability Panel</a:t>
            </a:r>
          </a:p>
          <a:p>
            <a:pPr marL="0" indent="0">
              <a:buNone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Transparent reasoning and interpretation</a:t>
            </a:r>
          </a:p>
          <a:p>
            <a:pPr marL="0" indent="0">
              <a:buNone/>
            </a:pPr>
            <a:endParaRPr lang="en-US" sz="26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Demo Simulation Engine</a:t>
            </a:r>
          </a:p>
          <a:p>
            <a:pPr marL="0" indent="0">
              <a:buNone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Controlled operational scenario simulation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559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002" y="372840"/>
            <a:ext cx="10946450" cy="595959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Deterministic Simulation Controls</a:t>
            </a:r>
          </a:p>
          <a:p>
            <a:pPr marL="0" indent="0">
              <a:buNone/>
            </a:pPr>
            <a:r>
              <a:rPr lang="en-IN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Demo Features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Inject New Judicial Order 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Simulate Deadline Escalation 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Trigger Conflict Escalation 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Officer Verification Complete 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Reset Demo Scenario </a:t>
            </a:r>
          </a:p>
          <a:p>
            <a:pPr marL="0" indent="0">
              <a:buNone/>
            </a:pPr>
            <a:endParaRPr lang="en-IN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Key Innovation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entire system reacts consistently across: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timelines, 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alerts, 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action queues, 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operational feeds. </a:t>
            </a:r>
          </a:p>
          <a:p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 random </a:t>
            </a:r>
            <a:r>
              <a:rPr lang="en-IN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or unreliable simulation logic is used.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119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280" y="355749"/>
            <a:ext cx="10989180" cy="566903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Innovation Highlights</a:t>
            </a:r>
          </a:p>
          <a:p>
            <a:pPr marL="0" indent="0" algn="ctr">
              <a:buNone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Lifecycle-Aware Intelligence</a:t>
            </a:r>
          </a:p>
          <a:p>
            <a:pPr marL="0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Tracks evolving judicial instructions dynamically.</a:t>
            </a:r>
          </a:p>
          <a:p>
            <a:pPr marL="0" indent="0">
              <a:buNone/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Explainable AI</a:t>
            </a:r>
          </a:p>
          <a:p>
            <a:pPr marL="0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Shows WHY cases are escalated.</a:t>
            </a:r>
          </a:p>
          <a:p>
            <a:pPr marL="0" indent="0">
              <a:buNone/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Operational Decision Support</a:t>
            </a:r>
          </a:p>
          <a:p>
            <a:pPr marL="0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Focuses on actionable government workflows.</a:t>
            </a:r>
          </a:p>
          <a:p>
            <a:pPr marL="0" indent="0">
              <a:buNone/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Deterministic Intelligence Architecture</a:t>
            </a:r>
          </a:p>
          <a:p>
            <a:pPr marL="0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Reliable and presentation-grade system behavior.</a:t>
            </a:r>
          </a:p>
          <a:p>
            <a:pPr marL="0" indent="0">
              <a:buNone/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Government Workflow Realism</a:t>
            </a:r>
          </a:p>
          <a:p>
            <a:pPr marL="0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Built as a command-center intelligence system.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263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008" y="338657"/>
            <a:ext cx="10937905" cy="543830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sz="3100" b="1" dirty="0" smtClean="0"/>
              <a:t>Real-World Impact</a:t>
            </a:r>
          </a:p>
          <a:p>
            <a:pPr marL="0" indent="0" algn="ctr">
              <a:buNone/>
            </a:pPr>
            <a:endParaRPr lang="en-IN" sz="3100" b="1" dirty="0" smtClean="0"/>
          </a:p>
          <a:p>
            <a:pPr marL="0" indent="0">
              <a:buNone/>
            </a:pPr>
            <a:r>
              <a:rPr lang="en-IN" b="1" dirty="0" smtClean="0"/>
              <a:t>Enables</a:t>
            </a:r>
          </a:p>
          <a:p>
            <a:r>
              <a:rPr lang="en-IN" dirty="0" smtClean="0"/>
              <a:t>Faster operational decisions</a:t>
            </a:r>
          </a:p>
          <a:p>
            <a:r>
              <a:rPr lang="en-IN" dirty="0" smtClean="0"/>
              <a:t>Improved judicial workflow visibility</a:t>
            </a:r>
          </a:p>
          <a:p>
            <a:r>
              <a:rPr lang="en-IN" dirty="0" smtClean="0"/>
              <a:t>Reduced legal escalation risks</a:t>
            </a:r>
          </a:p>
          <a:p>
            <a:r>
              <a:rPr lang="en-IN" dirty="0" smtClean="0"/>
              <a:t>Better government coordination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Future Scope</a:t>
            </a:r>
          </a:p>
          <a:p>
            <a:r>
              <a:rPr lang="en-IN" dirty="0" smtClean="0"/>
              <a:t>Real judicial database integrations</a:t>
            </a:r>
          </a:p>
          <a:p>
            <a:r>
              <a:rPr lang="en-IN" dirty="0" smtClean="0"/>
              <a:t>AI-powered legal reasoning</a:t>
            </a:r>
          </a:p>
          <a:p>
            <a:r>
              <a:rPr lang="en-IN" dirty="0" smtClean="0"/>
              <a:t>NLP-based order analysis</a:t>
            </a:r>
          </a:p>
          <a:p>
            <a:r>
              <a:rPr lang="en-IN" dirty="0" smtClean="0"/>
              <a:t>Multi-department integration</a:t>
            </a:r>
          </a:p>
          <a:p>
            <a:r>
              <a:rPr lang="en-IN" dirty="0" smtClean="0"/>
              <a:t>Smart governance deployment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86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27" y="1218874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Conclusion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Theerpu Intelligence System transforms complex judicial workflows into: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Explainable</a:t>
            </a:r>
          </a:p>
          <a:p>
            <a:pPr marL="0" indent="0">
              <a:buNone/>
            </a:pPr>
            <a:r>
              <a:rPr lang="en-IN" b="1" dirty="0" smtClean="0"/>
              <a:t>Prioritized</a:t>
            </a:r>
          </a:p>
          <a:p>
            <a:pPr marL="0" indent="0">
              <a:buNone/>
            </a:pPr>
            <a:r>
              <a:rPr lang="en-IN" b="1" dirty="0" smtClean="0"/>
              <a:t>Actionable</a:t>
            </a:r>
          </a:p>
          <a:p>
            <a:pPr marL="0" indent="0">
              <a:buNone/>
            </a:pPr>
            <a:r>
              <a:rPr lang="en-IN" b="1" dirty="0" smtClean="0"/>
              <a:t>Operational Intelligence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“AI-powered command-</a:t>
            </a:r>
            <a:r>
              <a:rPr lang="en-IN" dirty="0" err="1" smtClean="0"/>
              <a:t>center</a:t>
            </a:r>
            <a:r>
              <a:rPr lang="en-IN" dirty="0" smtClean="0"/>
              <a:t> intelligence for modern governance systems.”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906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590" y="3056219"/>
            <a:ext cx="4460194" cy="16439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600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837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461</Words>
  <Application>Microsoft Office PowerPoint</Application>
  <PresentationFormat>Widescreen</PresentationFormat>
  <Paragraphs>162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14</cp:revision>
  <dcterms:created xsi:type="dcterms:W3CDTF">2026-05-06T11:57:42Z</dcterms:created>
  <dcterms:modified xsi:type="dcterms:W3CDTF">2026-05-06T13:05:02Z</dcterms:modified>
</cp:coreProperties>
</file>